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9" r:id="rId5"/>
    <p:sldId id="260" r:id="rId6"/>
    <p:sldId id="262" r:id="rId7"/>
    <p:sldId id="263" r:id="rId8"/>
    <p:sldId id="264" r:id="rId9"/>
    <p:sldId id="267" r:id="rId10"/>
    <p:sldId id="265" r:id="rId11"/>
    <p:sldId id="266" r:id="rId12"/>
    <p:sldId id="268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61BD0-60EE-0CFC-565C-6F1571667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542F8D-4288-A6D2-9FAC-35D0A3549B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86880-F646-D037-E31F-D9C596C65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4D32D-B199-42F4-A7B1-90743D7983A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83CFB-C601-827B-D6CC-4393DFC5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7A76C-9011-DC63-8433-06F1571E1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5C86-173E-4371-A2A6-537E1543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227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186E-7006-B39A-92FD-9D40CF3A9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A81DD-4181-E4A1-7D9F-C3BD78E19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FE646-3209-51C4-2F41-335FC8027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4D32D-B199-42F4-A7B1-90743D7983A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CAF4D-EA03-CA5A-CF7F-8A474768B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BB934-5347-70F3-4BE1-15AD43098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5C86-173E-4371-A2A6-537E1543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19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DA438-38DF-D803-3FC9-424015749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A7A6E-A889-23E7-2FD4-E174FB5DE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49DAB-91A9-F8CD-8A92-EC31BF65D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4D32D-B199-42F4-A7B1-90743D7983A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3AB32-2F6E-BA6B-5AEC-A6AB9C6E1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E3BCE-63C1-81D0-0FC9-39DC2D0C8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5C86-173E-4371-A2A6-537E1543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2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3F545-54C5-10D7-4052-B0F75E484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6C6BF-24FD-0D8E-553A-A41DA3FCD8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67343-6B2C-835A-B781-8DEFC5218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39DCD-9477-7E5E-CF44-2123EF05A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4D32D-B199-42F4-A7B1-90743D7983A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EE1A9-283E-02C1-CA17-3FC4BAD3A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9C7E7-CB6A-D524-15B4-AD44A07A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5C86-173E-4371-A2A6-537E1543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88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96C07-B46B-DE18-CE0F-2043EA7BD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198F8-C76F-6D6F-7C02-2BC524BD2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E566A-9DE1-A09D-8C12-4E08F7583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6EB5BF-1D06-68B2-306F-375EE5717A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4637D9-5C32-47B1-7A99-98DE3155FD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81FCEF-E200-F7B4-611B-DD0B2B39B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4D32D-B199-42F4-A7B1-90743D7983A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3B8341-D51E-647A-D020-AB7E5FF69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21A31A-8A3C-23CA-80F8-F0A58EB5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5C86-173E-4371-A2A6-537E1543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459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CF836-18AC-56C1-C845-6A0D43A2D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C197C4-82F0-55C0-510C-A96D880D7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4D32D-B199-42F4-A7B1-90743D7983A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D2CE97-7A9A-CE27-5428-EC36D9875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A341AE-400E-B71E-C8E1-01CF77B77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5C86-173E-4371-A2A6-537E1543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93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7CAA9E-0AE4-8E77-6C4E-B587010FF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4D32D-B199-42F4-A7B1-90743D7983A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BC111E-2582-5D2F-31D9-F4F8DCF8F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CE5B5-D65C-3BB8-E455-3DAA8244E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5C86-173E-4371-A2A6-537E1543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257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68754-1D09-F72F-EB13-B5456D98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890B7-7426-FC89-9ECB-70FE52E53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64E243-0851-9E91-1D0E-6E602CC95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43506-B4D6-F106-5DFC-A3FC0B550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4D32D-B199-42F4-A7B1-90743D7983A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062C7-252F-64F2-31B5-186360A36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5EB62-05E6-08FB-A3B8-CE27FF39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5C86-173E-4371-A2A6-537E1543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2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6D068-F84B-5794-DDDD-385233449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5FDA0D-576D-18CD-F3A1-271CE9C511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1396A-56CB-E85D-5397-6C6E5571A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689CE-8FC5-22A2-43CB-2265C70F4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4D32D-B199-42F4-A7B1-90743D7983A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DBB72-A5F8-8957-3587-EA65F89EB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ED26C-9B79-1F8E-C3C5-CCEB14C3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5C86-173E-4371-A2A6-537E1543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974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A500E-5829-98B8-BE1F-32C6CADBC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56B7F-5144-03A9-3003-5B3DADC17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BAAD7-7326-6822-D7CC-3077F1D9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4D32D-B199-42F4-A7B1-90743D7983A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37A7F-7574-60AA-81AB-17B20241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DA49E-CFFE-01B7-3C9F-A95D8ACFD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5C86-173E-4371-A2A6-537E1543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600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F7CC35-0EA8-E8B1-BF14-607AEAEA17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64F39A-ABE2-39B8-009B-94543811D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AB784-CF4C-A46D-9735-9B5C5B828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4D32D-B199-42F4-A7B1-90743D7983A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81E32-D437-363C-3BC0-FBF512115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F8F81-4A41-0E72-3237-405756959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5C86-173E-4371-A2A6-537E1543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78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14E4F-829D-2D88-8491-E4C21DAA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35988-FCC5-5F87-39F0-2E4806A17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B903D-3CC7-4E10-7122-B96D018F4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4D32D-B199-42F4-A7B1-90743D7983A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B713D-41FA-FF00-CF78-271191B85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69AED-19FF-2105-9E04-EA20856140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75C86-173E-4371-A2A6-537E1543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2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eb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92E78-7F49-6C8D-26C9-B19A79752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8411"/>
            <a:ext cx="9144000" cy="230663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Overloaded passenger detection and real-time tracking in Metrorail using deep learning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29333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A7F281-27F7-4EEB-4157-B0C19006E9AE}"/>
              </a:ext>
            </a:extLst>
          </p:cNvPr>
          <p:cNvSpPr txBox="1"/>
          <p:nvPr/>
        </p:nvSpPr>
        <p:spPr>
          <a:xfrm>
            <a:off x="5006898" y="473618"/>
            <a:ext cx="1843668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video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1E890F-3AF1-CB56-1AE8-1444B5F7BF18}"/>
              </a:ext>
            </a:extLst>
          </p:cNvPr>
          <p:cNvSpPr txBox="1"/>
          <p:nvPr/>
        </p:nvSpPr>
        <p:spPr>
          <a:xfrm>
            <a:off x="4720684" y="1141896"/>
            <a:ext cx="2416097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YOLOV5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718106-7462-EEA4-DE14-107B6B9F4F09}"/>
              </a:ext>
            </a:extLst>
          </p:cNvPr>
          <p:cNvSpPr txBox="1"/>
          <p:nvPr/>
        </p:nvSpPr>
        <p:spPr>
          <a:xfrm>
            <a:off x="1851103" y="1882341"/>
            <a:ext cx="3341649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Passenger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4C2523-41AF-CC7B-4779-0033F216AB8B}"/>
              </a:ext>
            </a:extLst>
          </p:cNvPr>
          <p:cNvSpPr txBox="1"/>
          <p:nvPr/>
        </p:nvSpPr>
        <p:spPr>
          <a:xfrm>
            <a:off x="6084852" y="1882341"/>
            <a:ext cx="4118515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Bounding box with confidence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90E97E-DA5B-3EEB-9763-B6A750F0785A}"/>
              </a:ext>
            </a:extLst>
          </p:cNvPr>
          <p:cNvSpPr txBox="1"/>
          <p:nvPr/>
        </p:nvSpPr>
        <p:spPr>
          <a:xfrm>
            <a:off x="3357446" y="2678546"/>
            <a:ext cx="5142572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 Unique ID to each passenger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8D89F4-F3A0-48CC-A0CD-C407F927E488}"/>
              </a:ext>
            </a:extLst>
          </p:cNvPr>
          <p:cNvSpPr txBox="1"/>
          <p:nvPr/>
        </p:nvSpPr>
        <p:spPr>
          <a:xfrm>
            <a:off x="2933700" y="3439048"/>
            <a:ext cx="5990064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ROI to track the passenger using their 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C748F6-08D1-9864-2025-CE74312DA355}"/>
              </a:ext>
            </a:extLst>
          </p:cNvPr>
          <p:cNvSpPr txBox="1"/>
          <p:nvPr/>
        </p:nvSpPr>
        <p:spPr>
          <a:xfrm>
            <a:off x="3839738" y="4187628"/>
            <a:ext cx="4217018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 Passengers inside the ROI 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C21903EA-602F-F3E2-29DD-A6EB9133FD94}"/>
              </a:ext>
            </a:extLst>
          </p:cNvPr>
          <p:cNvSpPr/>
          <p:nvPr/>
        </p:nvSpPr>
        <p:spPr>
          <a:xfrm>
            <a:off x="4494407" y="4772004"/>
            <a:ext cx="2907680" cy="1300224"/>
          </a:xfrm>
          <a:prstGeom prst="diamond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No. of Passenger &gt; Threshold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C20433-65D3-98F4-8474-2616DCEE7226}"/>
              </a:ext>
            </a:extLst>
          </p:cNvPr>
          <p:cNvSpPr txBox="1"/>
          <p:nvPr/>
        </p:nvSpPr>
        <p:spPr>
          <a:xfrm>
            <a:off x="3271024" y="6256494"/>
            <a:ext cx="1843668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Overloaded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77AD7B-BE3B-278F-F567-DF879C22B1E6}"/>
              </a:ext>
            </a:extLst>
          </p:cNvPr>
          <p:cNvSpPr txBox="1"/>
          <p:nvPr/>
        </p:nvSpPr>
        <p:spPr>
          <a:xfrm>
            <a:off x="6698165" y="6256494"/>
            <a:ext cx="2193074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Overloaded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8E8112D-AF68-E17B-957C-6F2882CAB21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5928732" y="873728"/>
            <a:ext cx="1" cy="2681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340A59C-4609-AFE3-28A4-A7FA11ADD66A}"/>
              </a:ext>
            </a:extLst>
          </p:cNvPr>
          <p:cNvCxnSpPr>
            <a:cxnSpLocks/>
          </p:cNvCxnSpPr>
          <p:nvPr/>
        </p:nvCxnSpPr>
        <p:spPr>
          <a:xfrm>
            <a:off x="5928731" y="3090578"/>
            <a:ext cx="1" cy="2681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277E75C-01A3-093B-FE0F-88A3095FBB83}"/>
              </a:ext>
            </a:extLst>
          </p:cNvPr>
          <p:cNvCxnSpPr>
            <a:cxnSpLocks/>
          </p:cNvCxnSpPr>
          <p:nvPr/>
        </p:nvCxnSpPr>
        <p:spPr>
          <a:xfrm>
            <a:off x="5928730" y="3868676"/>
            <a:ext cx="1" cy="2681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9AFE41-DFF0-FCCD-5BC6-95D8CF5B298A}"/>
              </a:ext>
            </a:extLst>
          </p:cNvPr>
          <p:cNvCxnSpPr>
            <a:cxnSpLocks/>
          </p:cNvCxnSpPr>
          <p:nvPr/>
        </p:nvCxnSpPr>
        <p:spPr>
          <a:xfrm>
            <a:off x="5928729" y="4539452"/>
            <a:ext cx="1" cy="2681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6782476-18F1-B5E1-A0DF-6D333B590581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3521928" y="1542006"/>
            <a:ext cx="2406805" cy="3403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7656F5-E3E1-C0FF-24EE-B5F4FED767AD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5928733" y="1542006"/>
            <a:ext cx="2215377" cy="3403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15D697-1DD2-ECD1-CA8B-0484B0E13B5E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3521928" y="2282451"/>
            <a:ext cx="2406804" cy="3960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8D3612B-DB1E-588B-F427-81967DAE86FB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5928732" y="2282451"/>
            <a:ext cx="2215378" cy="3960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104B0797-E6EC-45BD-8F2D-C53BCF168EE4}"/>
              </a:ext>
            </a:extLst>
          </p:cNvPr>
          <p:cNvCxnSpPr>
            <a:cxnSpLocks/>
            <a:stCxn id="11" idx="1"/>
            <a:endCxn id="12" idx="0"/>
          </p:cNvCxnSpPr>
          <p:nvPr/>
        </p:nvCxnSpPr>
        <p:spPr>
          <a:xfrm rot="10800000" flipV="1">
            <a:off x="4192859" y="5422116"/>
            <a:ext cx="301549" cy="834378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20B6F56-EE45-8BEB-FE9C-F6F983BDA551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7402087" y="5422116"/>
            <a:ext cx="392615" cy="834378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31CB174-BE90-C4FF-57DC-6CC5C67A33FF}"/>
              </a:ext>
            </a:extLst>
          </p:cNvPr>
          <p:cNvSpPr txBox="1"/>
          <p:nvPr/>
        </p:nvSpPr>
        <p:spPr>
          <a:xfrm>
            <a:off x="4150113" y="4960651"/>
            <a:ext cx="52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yes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F3D50C-7315-B8E4-DDFB-A1231982F849}"/>
              </a:ext>
            </a:extLst>
          </p:cNvPr>
          <p:cNvSpPr txBox="1"/>
          <p:nvPr/>
        </p:nvSpPr>
        <p:spPr>
          <a:xfrm>
            <a:off x="7339594" y="4992617"/>
            <a:ext cx="529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521049-AD7D-71E6-6C98-65D90997CCCC}"/>
              </a:ext>
            </a:extLst>
          </p:cNvPr>
          <p:cNvSpPr txBox="1"/>
          <p:nvPr/>
        </p:nvSpPr>
        <p:spPr>
          <a:xfrm>
            <a:off x="9032488" y="4683652"/>
            <a:ext cx="270974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Realtime Overloaded passenger detection and tracking in Metro rail using deep learning</a:t>
            </a:r>
          </a:p>
        </p:txBody>
      </p:sp>
    </p:spTree>
    <p:extLst>
      <p:ext uri="{BB962C8B-B14F-4D97-AF65-F5344CB8AC3E}">
        <p14:creationId xmlns:p14="http://schemas.microsoft.com/office/powerpoint/2010/main" val="3344072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FF2D0-A92D-FA5B-6277-9BDD8F5C0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Output of YOLOV5 (fast and accurate)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822371-76B3-81B7-DE9A-6697F8B740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3066" y="1825625"/>
            <a:ext cx="8365868" cy="4351338"/>
          </a:xfrm>
        </p:spPr>
      </p:pic>
    </p:spTree>
    <p:extLst>
      <p:ext uri="{BB962C8B-B14F-4D97-AF65-F5344CB8AC3E}">
        <p14:creationId xmlns:p14="http://schemas.microsoft.com/office/powerpoint/2010/main" val="360590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68C8E-6033-ACD3-28B0-4B4EA099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Output of YOLOV5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F76BA3-593D-6A7C-E3EA-F551C23162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1696" y="1825625"/>
            <a:ext cx="7888608" cy="4351338"/>
          </a:xfrm>
        </p:spPr>
      </p:pic>
    </p:spTree>
    <p:extLst>
      <p:ext uri="{BB962C8B-B14F-4D97-AF65-F5344CB8AC3E}">
        <p14:creationId xmlns:p14="http://schemas.microsoft.com/office/powerpoint/2010/main" val="4210077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B6EC6-373B-3199-04DC-ACD166E9D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Output of YOLOV5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AF0E66-11B3-97C4-241F-C7B015A11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681" y="1396314"/>
            <a:ext cx="10291119" cy="478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434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B83C-59A8-60E7-3097-32A8B6398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Output of Faster RCNN (more accurate but slow)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60A1A0-6B2B-2E26-D080-F1AF6272E3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7910" y="1825625"/>
            <a:ext cx="8276180" cy="4351338"/>
          </a:xfrm>
        </p:spPr>
      </p:pic>
    </p:spTree>
    <p:extLst>
      <p:ext uri="{BB962C8B-B14F-4D97-AF65-F5344CB8AC3E}">
        <p14:creationId xmlns:p14="http://schemas.microsoft.com/office/powerpoint/2010/main" val="1888608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DBF26-3092-E1CE-D431-E640E5341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Output of SSD (very fast but less accurate)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FE048C-60CF-B7E8-9DA8-8343620E94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0649" y="1825625"/>
            <a:ext cx="8270702" cy="4351338"/>
          </a:xfrm>
        </p:spPr>
      </p:pic>
    </p:spTree>
    <p:extLst>
      <p:ext uri="{BB962C8B-B14F-4D97-AF65-F5344CB8AC3E}">
        <p14:creationId xmlns:p14="http://schemas.microsoft.com/office/powerpoint/2010/main" val="1275629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F14D4-4052-D084-439E-53A6A6328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Output of SSD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7A0CAC-45F1-4618-9910-B86DF4D2D8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4625" y="1825625"/>
            <a:ext cx="8342750" cy="4351338"/>
          </a:xfrm>
        </p:spPr>
      </p:pic>
    </p:spTree>
    <p:extLst>
      <p:ext uri="{BB962C8B-B14F-4D97-AF65-F5344CB8AC3E}">
        <p14:creationId xmlns:p14="http://schemas.microsoft.com/office/powerpoint/2010/main" val="31774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E9C5C-6B96-380C-9541-F9F13FD39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51" y="342823"/>
            <a:ext cx="1041524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Output of </a:t>
            </a:r>
            <a:r>
              <a:rPr lang="en-US" b="1" dirty="0" err="1">
                <a:solidFill>
                  <a:srgbClr val="FF0000"/>
                </a:solidFill>
              </a:rPr>
              <a:t>RetinaNet</a:t>
            </a:r>
            <a:r>
              <a:rPr lang="en-US" b="1" dirty="0">
                <a:solidFill>
                  <a:srgbClr val="FF0000"/>
                </a:solidFill>
              </a:rPr>
              <a:t> (slow &amp; accurate)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603A5A-3E59-1371-B3E7-F642E3DD9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39" y="1668386"/>
            <a:ext cx="8735122" cy="455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43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59915-D3BC-3187-D518-85977DF54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Comparison between YOLO and SSD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6380B-9844-A530-2345-9E68F1FA9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YOLO generally achieves higher accuracy compared to SSD, especially on small objects and in scenarios where objects are closely packed together. This is because YOLO divides the input image into a grid and predicts bounding boxes and class probabilities directly for each grid cell, allowing it to better capture small objects.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SSD is usually faster than YOLO, especially on GPU, because it doesn't need to perform grid-wise predictions like YOLO. Instead, it predicts bounding boxes at multiple scales and aspect ratios using a set of predefined anchor boxes. 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models are good in real-time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983145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A1A38-A994-3476-5E04-32A6E5A56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Comparison between YOLO and </a:t>
            </a:r>
            <a:r>
              <a:rPr lang="en-US" b="1" dirty="0" err="1">
                <a:solidFill>
                  <a:srgbClr val="FF0000"/>
                </a:solidFill>
              </a:rPr>
              <a:t>FasterRCNN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30827-FF37-B147-B9F0-9F207E6D4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YOLO tends to have slightly lower accuracy compared to Faster R-CNN, especially on small objects and in scenarios where objects are closely packed together and real time data. Faster R-CNN generally achieves higher accuracy compared to YOLO, especially on small objects and in complex scenes, due to its two-stage architecture.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YOLO is faster than Faster R-CNN, especially during inference, because it directly predicts bounding boxes and class probabilities for each grid cell. Faster R-CNN is slower than YOLO, particularly during inference, because it involves two stages: region proposal generation and bounding box refinement. 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more accurate but slower than YOLO and SSD.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238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50A2D-F02A-83D8-8F03-7C8245787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Comparison between YOLO and </a:t>
            </a:r>
            <a:r>
              <a:rPr lang="en-US" b="1" dirty="0" err="1">
                <a:solidFill>
                  <a:srgbClr val="FF0000"/>
                </a:solidFill>
              </a:rPr>
              <a:t>RetinaNet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60D31-35F6-3644-FD71-AB068C09A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vs. Speed: 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is known for its speed and real-time performance. It sacrifices some accuracy for speed, making it suitable for applications where real-time inference is critical, such as video surveillance and autonomous driving.</a:t>
            </a:r>
          </a:p>
          <a:p>
            <a:pPr marL="0" indent="0" algn="just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RetinaNet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achieves higher accuracy compared to YOLO, especially for small objects, but it is generally slower due to its two-stage detection process. It is often used in applications where accuracy is prioritized over speed, such as medical imaging and satellite imagery analysis.</a:t>
            </a:r>
          </a:p>
        </p:txBody>
      </p:sp>
    </p:spTree>
    <p:extLst>
      <p:ext uri="{BB962C8B-B14F-4D97-AF65-F5344CB8AC3E}">
        <p14:creationId xmlns:p14="http://schemas.microsoft.com/office/powerpoint/2010/main" val="1980051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FD8DF-AC77-C80A-92FB-451F2A547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EDE30-EB9C-9B30-4298-A7A627F4E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camera coverage: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be overcome by the transition from the 2D bounding box to the 3D bounding box.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5A7E50-43EA-D27A-255E-6CEF03E00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850" y="2826816"/>
            <a:ext cx="90043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20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467</Words>
  <Application>Microsoft Office PowerPoint</Application>
  <PresentationFormat>Widescreen</PresentationFormat>
  <Paragraphs>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Overloaded passenger detection and real-time tracking in Metrorail using deep learning</vt:lpstr>
      <vt:lpstr>PowerPoint Presentation</vt:lpstr>
      <vt:lpstr>Output of YOLOV5 (fast and accurate)</vt:lpstr>
      <vt:lpstr>Output of YOLOV5</vt:lpstr>
      <vt:lpstr>Output of YOLOV5</vt:lpstr>
      <vt:lpstr>Output of Faster RCNN (more accurate but slow)</vt:lpstr>
      <vt:lpstr>Output of SSD (very fast but less accurate)</vt:lpstr>
      <vt:lpstr>Output of SSD</vt:lpstr>
      <vt:lpstr>Output of RetinaNet (slow &amp; accurate)</vt:lpstr>
      <vt:lpstr>Comparison between YOLO and SSD</vt:lpstr>
      <vt:lpstr>Comparison between YOLO and FasterRCNN</vt:lpstr>
      <vt:lpstr>Comparison between YOLO and RetinaNet</vt:lpstr>
      <vt:lpstr>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0421312032 - Nasima Islam Bithi</dc:creator>
  <cp:lastModifiedBy>0421312032 - Nasima Islam Bithi</cp:lastModifiedBy>
  <cp:revision>9</cp:revision>
  <dcterms:created xsi:type="dcterms:W3CDTF">2024-01-28T10:01:45Z</dcterms:created>
  <dcterms:modified xsi:type="dcterms:W3CDTF">2024-02-13T15:26:36Z</dcterms:modified>
</cp:coreProperties>
</file>